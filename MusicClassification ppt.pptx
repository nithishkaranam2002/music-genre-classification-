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ebas Neue Bold" charset="1" panose="020B0606020202050201"/>
      <p:regular r:id="rId25"/>
    </p:embeddedFont>
    <p:embeddedFont>
      <p:font typeface="Breathing" charset="1" panose="02000500000000000000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4.png" Type="http://schemas.openxmlformats.org/officeDocument/2006/relationships/image"/><Relationship Id="rId13" Target="../media/image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964793" y="-131336"/>
            <a:ext cx="12341152" cy="10982722"/>
            <a:chOff x="0" y="0"/>
            <a:chExt cx="6349238" cy="56503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20470" y="-200914"/>
              <a:ext cx="7579741" cy="5919724"/>
            </a:xfrm>
            <a:custGeom>
              <a:avLst/>
              <a:gdLst/>
              <a:ahLst/>
              <a:cxnLst/>
              <a:rect r="r" b="b" t="t" l="l"/>
              <a:pathLst>
                <a:path h="5919724" w="7579741">
                  <a:moveTo>
                    <a:pt x="7563231" y="542290"/>
                  </a:moveTo>
                  <a:cubicBezTo>
                    <a:pt x="7547864" y="557530"/>
                    <a:pt x="7490206" y="686562"/>
                    <a:pt x="7507224" y="715264"/>
                  </a:cubicBezTo>
                  <a:cubicBezTo>
                    <a:pt x="7525639" y="709803"/>
                    <a:pt x="7436739" y="790321"/>
                    <a:pt x="7482586" y="888111"/>
                  </a:cubicBezTo>
                  <a:cubicBezTo>
                    <a:pt x="7469505" y="906018"/>
                    <a:pt x="7553833" y="924179"/>
                    <a:pt x="7546848" y="962025"/>
                  </a:cubicBezTo>
                  <a:cubicBezTo>
                    <a:pt x="7534529" y="981202"/>
                    <a:pt x="7489825" y="974979"/>
                    <a:pt x="7525639" y="1001014"/>
                  </a:cubicBezTo>
                  <a:cubicBezTo>
                    <a:pt x="7533132" y="1085469"/>
                    <a:pt x="7579233" y="1117346"/>
                    <a:pt x="7428357" y="1351280"/>
                  </a:cubicBezTo>
                  <a:cubicBezTo>
                    <a:pt x="7398639" y="1347343"/>
                    <a:pt x="7317740" y="1604645"/>
                    <a:pt x="7205979" y="1797050"/>
                  </a:cubicBezTo>
                  <a:cubicBezTo>
                    <a:pt x="7222108" y="1833372"/>
                    <a:pt x="7240015" y="1850009"/>
                    <a:pt x="7202296" y="1916684"/>
                  </a:cubicBezTo>
                  <a:cubicBezTo>
                    <a:pt x="7208900" y="1933448"/>
                    <a:pt x="7273035" y="1963420"/>
                    <a:pt x="7239634" y="2007743"/>
                  </a:cubicBezTo>
                  <a:cubicBezTo>
                    <a:pt x="7204201" y="2091436"/>
                    <a:pt x="7205852" y="2286381"/>
                    <a:pt x="7250048" y="2317750"/>
                  </a:cubicBezTo>
                  <a:cubicBezTo>
                    <a:pt x="7275576" y="2308987"/>
                    <a:pt x="7186167" y="2474976"/>
                    <a:pt x="7233031" y="2483866"/>
                  </a:cubicBezTo>
                  <a:cubicBezTo>
                    <a:pt x="7217790" y="2541143"/>
                    <a:pt x="7278496" y="2574417"/>
                    <a:pt x="7147940" y="2695575"/>
                  </a:cubicBezTo>
                  <a:cubicBezTo>
                    <a:pt x="7045959" y="2756535"/>
                    <a:pt x="7168641" y="2805176"/>
                    <a:pt x="7069073" y="2892044"/>
                  </a:cubicBezTo>
                  <a:cubicBezTo>
                    <a:pt x="7109587" y="2925826"/>
                    <a:pt x="7008621" y="2948432"/>
                    <a:pt x="7081139" y="3107690"/>
                  </a:cubicBezTo>
                  <a:cubicBezTo>
                    <a:pt x="7090664" y="3117088"/>
                    <a:pt x="7034657" y="3165983"/>
                    <a:pt x="7017766" y="3207639"/>
                  </a:cubicBezTo>
                  <a:cubicBezTo>
                    <a:pt x="7063232" y="3257296"/>
                    <a:pt x="7012940" y="3253994"/>
                    <a:pt x="6997446" y="3340354"/>
                  </a:cubicBezTo>
                  <a:cubicBezTo>
                    <a:pt x="6914515" y="3405251"/>
                    <a:pt x="6917309" y="3435350"/>
                    <a:pt x="6838696" y="3533013"/>
                  </a:cubicBezTo>
                  <a:cubicBezTo>
                    <a:pt x="6861556" y="3525774"/>
                    <a:pt x="6889496" y="3574161"/>
                    <a:pt x="6822313" y="3687572"/>
                  </a:cubicBezTo>
                  <a:cubicBezTo>
                    <a:pt x="6817867" y="3707257"/>
                    <a:pt x="6727190" y="3726307"/>
                    <a:pt x="6704838" y="3771265"/>
                  </a:cubicBezTo>
                  <a:cubicBezTo>
                    <a:pt x="6674739" y="3791585"/>
                    <a:pt x="6736079" y="3823716"/>
                    <a:pt x="6667881" y="3824732"/>
                  </a:cubicBezTo>
                  <a:cubicBezTo>
                    <a:pt x="6676516" y="3870960"/>
                    <a:pt x="6621398" y="3859911"/>
                    <a:pt x="6607683" y="3879977"/>
                  </a:cubicBezTo>
                  <a:cubicBezTo>
                    <a:pt x="6650990" y="3906901"/>
                    <a:pt x="6618478" y="3901313"/>
                    <a:pt x="6653657" y="3916553"/>
                  </a:cubicBezTo>
                  <a:cubicBezTo>
                    <a:pt x="6651371" y="3988689"/>
                    <a:pt x="6546469" y="4092829"/>
                    <a:pt x="6552819" y="4182491"/>
                  </a:cubicBezTo>
                  <a:cubicBezTo>
                    <a:pt x="6516370" y="4270502"/>
                    <a:pt x="6542785" y="4306443"/>
                    <a:pt x="6490208" y="4402836"/>
                  </a:cubicBezTo>
                  <a:cubicBezTo>
                    <a:pt x="6527419" y="4414266"/>
                    <a:pt x="6500748" y="4427982"/>
                    <a:pt x="6457696" y="4505960"/>
                  </a:cubicBezTo>
                  <a:cubicBezTo>
                    <a:pt x="6503289" y="4531741"/>
                    <a:pt x="6486271" y="4590542"/>
                    <a:pt x="6438519" y="4659376"/>
                  </a:cubicBezTo>
                  <a:cubicBezTo>
                    <a:pt x="6519417" y="4706620"/>
                    <a:pt x="6472682" y="4854575"/>
                    <a:pt x="6428232" y="4913630"/>
                  </a:cubicBezTo>
                  <a:cubicBezTo>
                    <a:pt x="6441440" y="4962525"/>
                    <a:pt x="6419596" y="5014341"/>
                    <a:pt x="6364732" y="5057902"/>
                  </a:cubicBezTo>
                  <a:cubicBezTo>
                    <a:pt x="6326251" y="5158740"/>
                    <a:pt x="6311772" y="5242179"/>
                    <a:pt x="6153531" y="5344667"/>
                  </a:cubicBezTo>
                  <a:cubicBezTo>
                    <a:pt x="6108953" y="5423534"/>
                    <a:pt x="6112764" y="5474842"/>
                    <a:pt x="6025007" y="5580126"/>
                  </a:cubicBezTo>
                  <a:cubicBezTo>
                    <a:pt x="5990082" y="5617336"/>
                    <a:pt x="5948298" y="5575808"/>
                    <a:pt x="5956046" y="5642229"/>
                  </a:cubicBezTo>
                  <a:cubicBezTo>
                    <a:pt x="5906770" y="5660898"/>
                    <a:pt x="5970270" y="5719572"/>
                    <a:pt x="5856605" y="5769483"/>
                  </a:cubicBezTo>
                  <a:cubicBezTo>
                    <a:pt x="5875401" y="5829681"/>
                    <a:pt x="5926582" y="5859272"/>
                    <a:pt x="5715762" y="5839333"/>
                  </a:cubicBezTo>
                  <a:cubicBezTo>
                    <a:pt x="4322445" y="5836539"/>
                    <a:pt x="2963291" y="5847588"/>
                    <a:pt x="1505204" y="5835142"/>
                  </a:cubicBezTo>
                  <a:cubicBezTo>
                    <a:pt x="1422400" y="5827522"/>
                    <a:pt x="1221740" y="5919724"/>
                    <a:pt x="1265555" y="5732399"/>
                  </a:cubicBezTo>
                  <a:cubicBezTo>
                    <a:pt x="1276477" y="4087495"/>
                    <a:pt x="1248029" y="2400427"/>
                    <a:pt x="1253236" y="760476"/>
                  </a:cubicBezTo>
                  <a:cubicBezTo>
                    <a:pt x="1408430" y="0"/>
                    <a:pt x="0" y="249174"/>
                    <a:pt x="6352667" y="210693"/>
                  </a:cubicBezTo>
                  <a:cubicBezTo>
                    <a:pt x="6709537" y="218821"/>
                    <a:pt x="7224776" y="185928"/>
                    <a:pt x="7545070" y="221488"/>
                  </a:cubicBezTo>
                  <a:cubicBezTo>
                    <a:pt x="7579741" y="234569"/>
                    <a:pt x="7569835" y="514604"/>
                    <a:pt x="7563231" y="54229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534044" y="-131336"/>
            <a:ext cx="11706958" cy="10418336"/>
            <a:chOff x="0" y="0"/>
            <a:chExt cx="6349238" cy="56503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20470" y="-200914"/>
              <a:ext cx="7579741" cy="5919724"/>
            </a:xfrm>
            <a:custGeom>
              <a:avLst/>
              <a:gdLst/>
              <a:ahLst/>
              <a:cxnLst/>
              <a:rect r="r" b="b" t="t" l="l"/>
              <a:pathLst>
                <a:path h="5919724" w="7579741">
                  <a:moveTo>
                    <a:pt x="7563231" y="542290"/>
                  </a:moveTo>
                  <a:cubicBezTo>
                    <a:pt x="7547864" y="557530"/>
                    <a:pt x="7490206" y="686562"/>
                    <a:pt x="7507224" y="715264"/>
                  </a:cubicBezTo>
                  <a:cubicBezTo>
                    <a:pt x="7525639" y="709803"/>
                    <a:pt x="7436739" y="790321"/>
                    <a:pt x="7482586" y="888111"/>
                  </a:cubicBezTo>
                  <a:cubicBezTo>
                    <a:pt x="7469505" y="906018"/>
                    <a:pt x="7553833" y="924179"/>
                    <a:pt x="7546848" y="962025"/>
                  </a:cubicBezTo>
                  <a:cubicBezTo>
                    <a:pt x="7534529" y="981202"/>
                    <a:pt x="7489825" y="974979"/>
                    <a:pt x="7525639" y="1001014"/>
                  </a:cubicBezTo>
                  <a:cubicBezTo>
                    <a:pt x="7533132" y="1085469"/>
                    <a:pt x="7579233" y="1117346"/>
                    <a:pt x="7428357" y="1351280"/>
                  </a:cubicBezTo>
                  <a:cubicBezTo>
                    <a:pt x="7398639" y="1347343"/>
                    <a:pt x="7317740" y="1604645"/>
                    <a:pt x="7205979" y="1797050"/>
                  </a:cubicBezTo>
                  <a:cubicBezTo>
                    <a:pt x="7222108" y="1833372"/>
                    <a:pt x="7240015" y="1850009"/>
                    <a:pt x="7202296" y="1916684"/>
                  </a:cubicBezTo>
                  <a:cubicBezTo>
                    <a:pt x="7208900" y="1933448"/>
                    <a:pt x="7273035" y="1963420"/>
                    <a:pt x="7239634" y="2007743"/>
                  </a:cubicBezTo>
                  <a:cubicBezTo>
                    <a:pt x="7204201" y="2091436"/>
                    <a:pt x="7205852" y="2286381"/>
                    <a:pt x="7250048" y="2317750"/>
                  </a:cubicBezTo>
                  <a:cubicBezTo>
                    <a:pt x="7275576" y="2308987"/>
                    <a:pt x="7186167" y="2474976"/>
                    <a:pt x="7233031" y="2483866"/>
                  </a:cubicBezTo>
                  <a:cubicBezTo>
                    <a:pt x="7217790" y="2541143"/>
                    <a:pt x="7278496" y="2574417"/>
                    <a:pt x="7147940" y="2695575"/>
                  </a:cubicBezTo>
                  <a:cubicBezTo>
                    <a:pt x="7045959" y="2756535"/>
                    <a:pt x="7168641" y="2805176"/>
                    <a:pt x="7069073" y="2892044"/>
                  </a:cubicBezTo>
                  <a:cubicBezTo>
                    <a:pt x="7109587" y="2925826"/>
                    <a:pt x="7008621" y="2948432"/>
                    <a:pt x="7081139" y="3107690"/>
                  </a:cubicBezTo>
                  <a:cubicBezTo>
                    <a:pt x="7090664" y="3117088"/>
                    <a:pt x="7034657" y="3165983"/>
                    <a:pt x="7017766" y="3207639"/>
                  </a:cubicBezTo>
                  <a:cubicBezTo>
                    <a:pt x="7063232" y="3257296"/>
                    <a:pt x="7012940" y="3253994"/>
                    <a:pt x="6997446" y="3340354"/>
                  </a:cubicBezTo>
                  <a:cubicBezTo>
                    <a:pt x="6914515" y="3405251"/>
                    <a:pt x="6917309" y="3435350"/>
                    <a:pt x="6838696" y="3533013"/>
                  </a:cubicBezTo>
                  <a:cubicBezTo>
                    <a:pt x="6861556" y="3525774"/>
                    <a:pt x="6889496" y="3574161"/>
                    <a:pt x="6822313" y="3687572"/>
                  </a:cubicBezTo>
                  <a:cubicBezTo>
                    <a:pt x="6817867" y="3707257"/>
                    <a:pt x="6727190" y="3726307"/>
                    <a:pt x="6704838" y="3771265"/>
                  </a:cubicBezTo>
                  <a:cubicBezTo>
                    <a:pt x="6674739" y="3791585"/>
                    <a:pt x="6736079" y="3823716"/>
                    <a:pt x="6667881" y="3824732"/>
                  </a:cubicBezTo>
                  <a:cubicBezTo>
                    <a:pt x="6676516" y="3870960"/>
                    <a:pt x="6621398" y="3859911"/>
                    <a:pt x="6607683" y="3879977"/>
                  </a:cubicBezTo>
                  <a:cubicBezTo>
                    <a:pt x="6650990" y="3906901"/>
                    <a:pt x="6618478" y="3901313"/>
                    <a:pt x="6653657" y="3916553"/>
                  </a:cubicBezTo>
                  <a:cubicBezTo>
                    <a:pt x="6651371" y="3988689"/>
                    <a:pt x="6546469" y="4092829"/>
                    <a:pt x="6552819" y="4182491"/>
                  </a:cubicBezTo>
                  <a:cubicBezTo>
                    <a:pt x="6516370" y="4270502"/>
                    <a:pt x="6542785" y="4306443"/>
                    <a:pt x="6490208" y="4402836"/>
                  </a:cubicBezTo>
                  <a:cubicBezTo>
                    <a:pt x="6527419" y="4414266"/>
                    <a:pt x="6500748" y="4427982"/>
                    <a:pt x="6457696" y="4505960"/>
                  </a:cubicBezTo>
                  <a:cubicBezTo>
                    <a:pt x="6503289" y="4531741"/>
                    <a:pt x="6486271" y="4590542"/>
                    <a:pt x="6438519" y="4659376"/>
                  </a:cubicBezTo>
                  <a:cubicBezTo>
                    <a:pt x="6519417" y="4706620"/>
                    <a:pt x="6472682" y="4854575"/>
                    <a:pt x="6428232" y="4913630"/>
                  </a:cubicBezTo>
                  <a:cubicBezTo>
                    <a:pt x="6441440" y="4962525"/>
                    <a:pt x="6419596" y="5014341"/>
                    <a:pt x="6364732" y="5057902"/>
                  </a:cubicBezTo>
                  <a:cubicBezTo>
                    <a:pt x="6326251" y="5158740"/>
                    <a:pt x="6311772" y="5242179"/>
                    <a:pt x="6153531" y="5344667"/>
                  </a:cubicBezTo>
                  <a:cubicBezTo>
                    <a:pt x="6108953" y="5423534"/>
                    <a:pt x="6112764" y="5474842"/>
                    <a:pt x="6025007" y="5580126"/>
                  </a:cubicBezTo>
                  <a:cubicBezTo>
                    <a:pt x="5990082" y="5617336"/>
                    <a:pt x="5948298" y="5575808"/>
                    <a:pt x="5956046" y="5642229"/>
                  </a:cubicBezTo>
                  <a:cubicBezTo>
                    <a:pt x="5906770" y="5660898"/>
                    <a:pt x="5970270" y="5719572"/>
                    <a:pt x="5856605" y="5769483"/>
                  </a:cubicBezTo>
                  <a:cubicBezTo>
                    <a:pt x="5875401" y="5829681"/>
                    <a:pt x="5926582" y="5859272"/>
                    <a:pt x="5715762" y="5839333"/>
                  </a:cubicBezTo>
                  <a:cubicBezTo>
                    <a:pt x="4322445" y="5836539"/>
                    <a:pt x="2963291" y="5847588"/>
                    <a:pt x="1505204" y="5835142"/>
                  </a:cubicBezTo>
                  <a:cubicBezTo>
                    <a:pt x="1422400" y="5827522"/>
                    <a:pt x="1221740" y="5919724"/>
                    <a:pt x="1265555" y="5732399"/>
                  </a:cubicBezTo>
                  <a:cubicBezTo>
                    <a:pt x="1276477" y="4087495"/>
                    <a:pt x="1248029" y="2400427"/>
                    <a:pt x="1253236" y="760476"/>
                  </a:cubicBezTo>
                  <a:cubicBezTo>
                    <a:pt x="1408430" y="0"/>
                    <a:pt x="0" y="249174"/>
                    <a:pt x="6352667" y="210693"/>
                  </a:cubicBezTo>
                  <a:cubicBezTo>
                    <a:pt x="6709537" y="218821"/>
                    <a:pt x="7224776" y="185928"/>
                    <a:pt x="7545070" y="221488"/>
                  </a:cubicBezTo>
                  <a:cubicBezTo>
                    <a:pt x="7579741" y="234569"/>
                    <a:pt x="7569835" y="514604"/>
                    <a:pt x="7563231" y="542290"/>
                  </a:cubicBezTo>
                  <a:close/>
                </a:path>
              </a:pathLst>
            </a:custGeom>
            <a:blipFill>
              <a:blip r:embed="rId2"/>
              <a:stretch>
                <a:fillRect l="-16784" t="0" r="-1678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61489" y="8573379"/>
            <a:ext cx="2397811" cy="684921"/>
            <a:chOff x="0" y="0"/>
            <a:chExt cx="1422749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749" cy="406400"/>
            </a:xfrm>
            <a:custGeom>
              <a:avLst/>
              <a:gdLst/>
              <a:ahLst/>
              <a:cxnLst/>
              <a:rect r="r" b="b" t="t" l="l"/>
              <a:pathLst>
                <a:path h="406400" w="1422749">
                  <a:moveTo>
                    <a:pt x="1219549" y="0"/>
                  </a:moveTo>
                  <a:cubicBezTo>
                    <a:pt x="1331774" y="0"/>
                    <a:pt x="1422749" y="90976"/>
                    <a:pt x="1422749" y="203200"/>
                  </a:cubicBezTo>
                  <a:cubicBezTo>
                    <a:pt x="1422749" y="315424"/>
                    <a:pt x="1331774" y="406400"/>
                    <a:pt x="12195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2274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07636" y="8042428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74880" y="767138"/>
            <a:ext cx="468807" cy="539634"/>
          </a:xfrm>
          <a:custGeom>
            <a:avLst/>
            <a:gdLst/>
            <a:ahLst/>
            <a:cxnLst/>
            <a:rect r="r" b="b" t="t" l="l"/>
            <a:pathLst>
              <a:path h="539634" w="468807">
                <a:moveTo>
                  <a:pt x="0" y="0"/>
                </a:moveTo>
                <a:lnTo>
                  <a:pt x="468807" y="0"/>
                </a:lnTo>
                <a:lnTo>
                  <a:pt x="468807" y="539634"/>
                </a:lnTo>
                <a:lnTo>
                  <a:pt x="0" y="539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17338" y="3794998"/>
            <a:ext cx="9233778" cy="166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730"/>
              </a:lnSpc>
            </a:pPr>
            <a:r>
              <a:rPr lang="en-US" b="true" sz="1380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Music GenrE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4609" y="6035079"/>
            <a:ext cx="8439234" cy="143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7"/>
              </a:lnSpc>
            </a:pPr>
            <a:r>
              <a:rPr lang="en-US" sz="9439">
                <a:solidFill>
                  <a:srgbClr val="EE9C22"/>
                </a:solidFill>
                <a:latin typeface="Breathing"/>
                <a:ea typeface="Breathing"/>
                <a:cs typeface="Breathing"/>
                <a:sym typeface="Breathing"/>
              </a:rPr>
              <a:t>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41704" y="820738"/>
            <a:ext cx="276238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54275" y="8763440"/>
            <a:ext cx="14872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26265">
            <a:off x="-5662697" y="5860172"/>
            <a:ext cx="19021566" cy="10556969"/>
          </a:xfrm>
          <a:custGeom>
            <a:avLst/>
            <a:gdLst/>
            <a:ahLst/>
            <a:cxnLst/>
            <a:rect r="r" b="b" t="t" l="l"/>
            <a:pathLst>
              <a:path h="10556969" w="19021566">
                <a:moveTo>
                  <a:pt x="0" y="0"/>
                </a:moveTo>
                <a:lnTo>
                  <a:pt x="19021566" y="0"/>
                </a:lnTo>
                <a:lnTo>
                  <a:pt x="19021566" y="10556969"/>
                </a:lnTo>
                <a:lnTo>
                  <a:pt x="0" y="10556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147653" cy="8229600"/>
            <a:chOff x="0" y="0"/>
            <a:chExt cx="9530204" cy="109728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21067" t="0" r="21067" b="0"/>
            <a:stretch>
              <a:fillRect/>
            </a:stretch>
          </p:blipFill>
          <p:spPr>
            <a:xfrm flipH="false" flipV="false">
              <a:off x="0" y="0"/>
              <a:ext cx="9530204" cy="109728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9759725" y="7486636"/>
            <a:ext cx="2109247" cy="684921"/>
            <a:chOff x="0" y="0"/>
            <a:chExt cx="125152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15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51529">
                  <a:moveTo>
                    <a:pt x="1048329" y="0"/>
                  </a:moveTo>
                  <a:cubicBezTo>
                    <a:pt x="1160553" y="0"/>
                    <a:pt x="1251529" y="90976"/>
                    <a:pt x="1251529" y="203200"/>
                  </a:cubicBezTo>
                  <a:cubicBezTo>
                    <a:pt x="1251529" y="315424"/>
                    <a:pt x="1160553" y="406400"/>
                    <a:pt x="10483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5152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5325" y="793509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7" y="0"/>
                </a:lnTo>
                <a:lnTo>
                  <a:pt x="486827" y="486826"/>
                </a:lnTo>
                <a:lnTo>
                  <a:pt x="0" y="486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66307" y="8604292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13545" y="1259523"/>
            <a:ext cx="7595738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</a:t>
            </a:r>
          </a:p>
          <a:p>
            <a:pPr algn="l">
              <a:lnSpc>
                <a:spcPts val="95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070709" y="7676696"/>
            <a:ext cx="14872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459853" y="2145348"/>
            <a:ext cx="10111647" cy="481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64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Audio genre classification is the task of automatically recognizing  the genre of music.</a:t>
            </a:r>
          </a:p>
          <a:p>
            <a:pPr algn="l" marL="561336" indent="-280668" lvl="1">
              <a:lnSpc>
                <a:spcPts val="64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in music recommendation systems, metadata tagging, and  music organization.</a:t>
            </a:r>
          </a:p>
          <a:p>
            <a:pPr algn="l" marL="561336" indent="-280668" lvl="1">
              <a:lnSpc>
                <a:spcPts val="64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project implements both traditional deep learning and  transformer-based approaches.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0289858" y="2288857"/>
            <a:ext cx="10287000" cy="5709285"/>
          </a:xfrm>
          <a:custGeom>
            <a:avLst/>
            <a:gdLst/>
            <a:ahLst/>
            <a:cxnLst/>
            <a:rect r="r" b="b" t="t" l="l"/>
            <a:pathLst>
              <a:path h="5709285" w="10287000">
                <a:moveTo>
                  <a:pt x="10287000" y="5709286"/>
                </a:moveTo>
                <a:lnTo>
                  <a:pt x="0" y="570928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57092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8380" y="2087940"/>
            <a:ext cx="8439620" cy="5757836"/>
            <a:chOff x="0" y="0"/>
            <a:chExt cx="11252826" cy="767711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141" t="0" r="1141" b="0"/>
            <a:stretch>
              <a:fillRect/>
            </a:stretch>
          </p:blipFill>
          <p:spPr>
            <a:xfrm flipH="true" flipV="false">
              <a:off x="0" y="0"/>
              <a:ext cx="11252826" cy="7677114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13004933" y="1844526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7"/>
                </a:lnTo>
                <a:lnTo>
                  <a:pt x="0" y="486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46381" y="625326"/>
            <a:ext cx="682718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500" y="1840290"/>
            <a:ext cx="12172094" cy="758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5538"/>
              </a:lnSpc>
              <a:buFont typeface="Arial"/>
              <a:buChar char="•"/>
            </a:pPr>
            <a:r>
              <a:rPr lang="en-US" sz="26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Manual genre classification is often time-consuming, inconsistent, and subjective.</a:t>
            </a:r>
          </a:p>
          <a:p>
            <a:pPr algn="l" marL="561342" indent="-280671" lvl="1">
              <a:lnSpc>
                <a:spcPts val="5538"/>
              </a:lnSpc>
              <a:buFont typeface="Arial"/>
              <a:buChar char="•"/>
            </a:pPr>
            <a:r>
              <a:rPr lang="en-US" sz="26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With the exponential growth of digital music, there's a pressing need for automated, scalable classification solutions.</a:t>
            </a:r>
          </a:p>
          <a:p>
            <a:pPr algn="l" marL="561342" indent="-280671" lvl="1">
              <a:lnSpc>
                <a:spcPts val="5538"/>
              </a:lnSpc>
              <a:buFont typeface="Arial"/>
              <a:buChar char="•"/>
            </a:pPr>
            <a:r>
              <a:rPr lang="en-US" sz="26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AI-powered systems can enhance personalization in streaming platforms, improving user experience.</a:t>
            </a:r>
          </a:p>
          <a:p>
            <a:pPr algn="l" marL="561342" indent="-280671" lvl="1">
              <a:lnSpc>
                <a:spcPts val="5538"/>
              </a:lnSpc>
              <a:buFont typeface="Arial"/>
              <a:buChar char="•"/>
            </a:pPr>
            <a:r>
              <a:rPr lang="en-US" sz="26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Genre classification also supports music information retrieval, archiving, and metadata generation.</a:t>
            </a:r>
          </a:p>
          <a:p>
            <a:pPr algn="l" marL="561342" indent="-280671" lvl="1">
              <a:lnSpc>
                <a:spcPts val="5538"/>
              </a:lnSpc>
              <a:buFont typeface="Arial"/>
              <a:buChar char="•"/>
            </a:pPr>
            <a:r>
              <a:rPr lang="en-US" sz="26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This project leverages both conventional neural networks and state-of-the-art transformers to explore performance trade-offs.</a:t>
            </a:r>
          </a:p>
          <a:p>
            <a:pPr algn="l">
              <a:lnSpc>
                <a:spcPts val="553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192993" y="9258300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8386" y="7259384"/>
            <a:ext cx="468807" cy="539634"/>
          </a:xfrm>
          <a:custGeom>
            <a:avLst/>
            <a:gdLst/>
            <a:ahLst/>
            <a:cxnLst/>
            <a:rect r="r" b="b" t="t" l="l"/>
            <a:pathLst>
              <a:path h="539634" w="468807">
                <a:moveTo>
                  <a:pt x="0" y="0"/>
                </a:moveTo>
                <a:lnTo>
                  <a:pt x="468808" y="0"/>
                </a:lnTo>
                <a:lnTo>
                  <a:pt x="468808" y="539634"/>
                </a:lnTo>
                <a:lnTo>
                  <a:pt x="0" y="539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068190" y="758883"/>
            <a:ext cx="3401983" cy="539634"/>
            <a:chOff x="0" y="0"/>
            <a:chExt cx="4535977" cy="719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9148" y="783984"/>
            <a:ext cx="7595738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 Statement</a:t>
            </a:r>
          </a:p>
          <a:p>
            <a:pPr algn="l">
              <a:lnSpc>
                <a:spcPts val="95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836893" y="9258300"/>
            <a:ext cx="2109247" cy="684921"/>
            <a:chOff x="0" y="0"/>
            <a:chExt cx="125152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5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51529">
                  <a:moveTo>
                    <a:pt x="1048329" y="0"/>
                  </a:moveTo>
                  <a:cubicBezTo>
                    <a:pt x="1160553" y="0"/>
                    <a:pt x="1251529" y="90976"/>
                    <a:pt x="1251529" y="203200"/>
                  </a:cubicBezTo>
                  <a:cubicBezTo>
                    <a:pt x="1251529" y="315424"/>
                    <a:pt x="1160553" y="406400"/>
                    <a:pt x="10483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5152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47876" y="9448360"/>
            <a:ext cx="14872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85287" y="793509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6"/>
                </a:lnTo>
                <a:lnTo>
                  <a:pt x="0" y="486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4350" y="1871529"/>
            <a:ext cx="17773650" cy="669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goal of this project is to automatically classify 30-second audio clips into their corresponding music genres from a predefined set of 10 categories.</a:t>
            </a:r>
          </a:p>
          <a:p>
            <a:pPr algn="l" marL="518157" indent="-259078" lvl="1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involves developing models capable of learning from either handcrafted statistical features or raw audio waveforms.</a:t>
            </a:r>
          </a:p>
          <a:p>
            <a:pPr algn="l" marL="518157" indent="-259078" lvl="1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challenge lies in capturing both temporal and spectral characteristics of music that distinguish one genre from another.</a:t>
            </a:r>
          </a:p>
          <a:p>
            <a:pPr algn="l" marL="518157" indent="-259078" lvl="1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aim to evaluate and compare the performance of traditional neural networks and transformer-based models on this task.</a:t>
            </a:r>
          </a:p>
          <a:p>
            <a:pPr algn="l" marL="518157" indent="-259078" lvl="1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is based on metrics such as accuracy, F1 score, and model generalization capability.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9148" y="783984"/>
            <a:ext cx="759573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36893" y="9258300"/>
            <a:ext cx="2109247" cy="684921"/>
            <a:chOff x="0" y="0"/>
            <a:chExt cx="125152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5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51529">
                  <a:moveTo>
                    <a:pt x="1048329" y="0"/>
                  </a:moveTo>
                  <a:cubicBezTo>
                    <a:pt x="1160553" y="0"/>
                    <a:pt x="1251529" y="90976"/>
                    <a:pt x="1251529" y="203200"/>
                  </a:cubicBezTo>
                  <a:cubicBezTo>
                    <a:pt x="1251529" y="315424"/>
                    <a:pt x="1160553" y="406400"/>
                    <a:pt x="10483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5152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47876" y="9448360"/>
            <a:ext cx="14872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85287" y="793509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6"/>
                </a:lnTo>
                <a:lnTo>
                  <a:pt x="0" y="486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5287" y="2192250"/>
            <a:ext cx="17502713" cy="538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follows a dual-pipeline approach combining traditional deep learning and transformer-based techniques.</a:t>
            </a:r>
          </a:p>
          <a:p>
            <a:pPr algn="l">
              <a:lnSpc>
                <a:spcPts val="7249"/>
              </a:lnSpc>
            </a:pPr>
            <a:r>
              <a:rPr lang="en-US" b="true" sz="289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A (Keras-based):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Load audio features from CSV (MFCCs, tempo, chroma stats).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Normalize, visualize, and reduce dimensionality using PCA.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 and evaluate multiple dense neural network architectures.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9148" y="783984"/>
            <a:ext cx="759573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36893" y="9258300"/>
            <a:ext cx="2109247" cy="684921"/>
            <a:chOff x="0" y="0"/>
            <a:chExt cx="125152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5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51529">
                  <a:moveTo>
                    <a:pt x="1048329" y="0"/>
                  </a:moveTo>
                  <a:cubicBezTo>
                    <a:pt x="1160553" y="0"/>
                    <a:pt x="1251529" y="90976"/>
                    <a:pt x="1251529" y="203200"/>
                  </a:cubicBezTo>
                  <a:cubicBezTo>
                    <a:pt x="1251529" y="315424"/>
                    <a:pt x="1160553" y="406400"/>
                    <a:pt x="10483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5152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47876" y="9448360"/>
            <a:ext cx="14872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85287" y="793509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6"/>
                </a:lnTo>
                <a:lnTo>
                  <a:pt x="0" y="486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5287" y="2182725"/>
            <a:ext cx="15731332" cy="450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ipeline B (Transformer-based):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Load raw .wav files and resample them to 16kHz.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</a:t>
            </a:r>
            <a:r>
              <a:rPr lang="en-US" sz="28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8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8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v2v</a:t>
            </a:r>
            <a:r>
              <a:rPr lang="en-US" sz="28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c2</a:t>
            </a: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feature extractor and train using Hugging Face Trainer API.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using ROC-AUC and classification accuracy.</a:t>
            </a:r>
          </a:p>
          <a:p>
            <a:pPr algn="l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comparison based on model performance, training time, and interpretability.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8854506">
            <a:off x="-6031742" y="4561262"/>
            <a:ext cx="18263326" cy="10136146"/>
          </a:xfrm>
          <a:custGeom>
            <a:avLst/>
            <a:gdLst/>
            <a:ahLst/>
            <a:cxnLst/>
            <a:rect r="r" b="b" t="t" l="l"/>
            <a:pathLst>
              <a:path h="10136146" w="18263326">
                <a:moveTo>
                  <a:pt x="18263326" y="10136145"/>
                </a:moveTo>
                <a:lnTo>
                  <a:pt x="0" y="10136145"/>
                </a:lnTo>
                <a:lnTo>
                  <a:pt x="0" y="0"/>
                </a:lnTo>
                <a:lnTo>
                  <a:pt x="18263326" y="0"/>
                </a:lnTo>
                <a:lnTo>
                  <a:pt x="18263326" y="101361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-442117">
            <a:off x="747407" y="1340037"/>
            <a:ext cx="5110075" cy="5951385"/>
            <a:chOff x="0" y="0"/>
            <a:chExt cx="13561060" cy="1579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4"/>
              <a:stretch>
                <a:fillRect l="-41496" t="0" r="-4149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5"/>
              <a:stretch>
                <a:fillRect l="0" t="-144" r="0" b="-14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00099" y="6477573"/>
            <a:ext cx="2925167" cy="1357026"/>
            <a:chOff x="0" y="0"/>
            <a:chExt cx="462247" cy="214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2247" cy="214443"/>
            </a:xfrm>
            <a:custGeom>
              <a:avLst/>
              <a:gdLst/>
              <a:ahLst/>
              <a:cxnLst/>
              <a:rect r="r" b="b" t="t" l="l"/>
              <a:pathLst>
                <a:path h="214443" w="462247">
                  <a:moveTo>
                    <a:pt x="0" y="0"/>
                  </a:moveTo>
                  <a:lnTo>
                    <a:pt x="462247" y="0"/>
                  </a:lnTo>
                  <a:lnTo>
                    <a:pt x="462247" y="214443"/>
                  </a:lnTo>
                  <a:lnTo>
                    <a:pt x="0" y="214443"/>
                  </a:ln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62247" cy="233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14820" y="2182513"/>
            <a:ext cx="2925167" cy="1357026"/>
            <a:chOff x="0" y="0"/>
            <a:chExt cx="462247" cy="2144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2247" cy="214443"/>
            </a:xfrm>
            <a:custGeom>
              <a:avLst/>
              <a:gdLst/>
              <a:ahLst/>
              <a:cxnLst/>
              <a:rect r="r" b="b" t="t" l="l"/>
              <a:pathLst>
                <a:path h="214443" w="462247">
                  <a:moveTo>
                    <a:pt x="0" y="0"/>
                  </a:moveTo>
                  <a:lnTo>
                    <a:pt x="462247" y="0"/>
                  </a:lnTo>
                  <a:lnTo>
                    <a:pt x="462247" y="214443"/>
                  </a:lnTo>
                  <a:lnTo>
                    <a:pt x="0" y="214443"/>
                  </a:lnTo>
                  <a:close/>
                </a:path>
              </a:pathLst>
            </a:custGeom>
            <a:solidFill>
              <a:srgbClr val="EE9C2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62247" cy="233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42024" y="2953246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7"/>
                </a:lnTo>
                <a:lnTo>
                  <a:pt x="0" y="486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99701" y="9244149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365373" y="1734145"/>
            <a:ext cx="6340509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Dataset Overview</a:t>
            </a:r>
          </a:p>
          <a:p>
            <a:pPr algn="l">
              <a:lnSpc>
                <a:spcPts val="959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8615277" y="3221850"/>
            <a:ext cx="6567529" cy="1305560"/>
            <a:chOff x="0" y="0"/>
            <a:chExt cx="8756705" cy="17407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596" cy="631596"/>
            </a:xfrm>
            <a:custGeom>
              <a:avLst/>
              <a:gdLst/>
              <a:ahLst/>
              <a:cxnLst/>
              <a:rect r="r" b="b" t="t" l="l"/>
              <a:pathLst>
                <a:path h="631596" w="631596">
                  <a:moveTo>
                    <a:pt x="0" y="0"/>
                  </a:moveTo>
                  <a:lnTo>
                    <a:pt x="631596" y="0"/>
                  </a:lnTo>
                  <a:lnTo>
                    <a:pt x="631596" y="631596"/>
                  </a:lnTo>
                  <a:lnTo>
                    <a:pt x="0" y="631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32481" y="-66675"/>
              <a:ext cx="7124225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Datas</a:t>
              </a: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et: GTZAN Music Genre Dataset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64854" y="4643366"/>
            <a:ext cx="6567529" cy="1305560"/>
            <a:chOff x="0" y="0"/>
            <a:chExt cx="8756705" cy="17407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69905"/>
              <a:ext cx="631596" cy="631596"/>
            </a:xfrm>
            <a:custGeom>
              <a:avLst/>
              <a:gdLst/>
              <a:ahLst/>
              <a:cxnLst/>
              <a:rect r="r" b="b" t="t" l="l"/>
              <a:pathLst>
                <a:path h="631596" w="631596">
                  <a:moveTo>
                    <a:pt x="0" y="0"/>
                  </a:moveTo>
                  <a:lnTo>
                    <a:pt x="631596" y="0"/>
                  </a:lnTo>
                  <a:lnTo>
                    <a:pt x="631596" y="631596"/>
                  </a:lnTo>
                  <a:lnTo>
                    <a:pt x="0" y="631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632481" y="-66675"/>
              <a:ext cx="7124225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Sampl</a:t>
              </a: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es: 9990 audio segments (30 seconds each)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15277" y="5966080"/>
            <a:ext cx="6337206" cy="1762760"/>
            <a:chOff x="0" y="0"/>
            <a:chExt cx="8449608" cy="23503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67453"/>
              <a:ext cx="609446" cy="609446"/>
            </a:xfrm>
            <a:custGeom>
              <a:avLst/>
              <a:gdLst/>
              <a:ahLst/>
              <a:cxnLst/>
              <a:rect r="r" b="b" t="t" l="l"/>
              <a:pathLst>
                <a:path h="609446" w="609446">
                  <a:moveTo>
                    <a:pt x="0" y="0"/>
                  </a:moveTo>
                  <a:lnTo>
                    <a:pt x="609446" y="0"/>
                  </a:lnTo>
                  <a:lnTo>
                    <a:pt x="609446" y="609447"/>
                  </a:lnTo>
                  <a:lnTo>
                    <a:pt x="0" y="609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575230" y="-66675"/>
              <a:ext cx="6874379" cy="24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Genr</a:t>
              </a: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es: Blues, Classical, Country, Disco, Hip-Hop, Jazz, Metal, Pop, Reggae, Rock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64854" y="7843140"/>
            <a:ext cx="6337206" cy="1305560"/>
            <a:chOff x="0" y="0"/>
            <a:chExt cx="8449608" cy="17407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67453"/>
              <a:ext cx="609446" cy="609446"/>
            </a:xfrm>
            <a:custGeom>
              <a:avLst/>
              <a:gdLst/>
              <a:ahLst/>
              <a:cxnLst/>
              <a:rect r="r" b="b" t="t" l="l"/>
              <a:pathLst>
                <a:path h="609446" w="609446">
                  <a:moveTo>
                    <a:pt x="0" y="0"/>
                  </a:moveTo>
                  <a:lnTo>
                    <a:pt x="609446" y="0"/>
                  </a:lnTo>
                  <a:lnTo>
                    <a:pt x="609446" y="609447"/>
                  </a:lnTo>
                  <a:lnTo>
                    <a:pt x="0" y="609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575230" y="-66675"/>
              <a:ext cx="6874379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Balanced class distribution with minimal preprocessing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697795" y="2896096"/>
            <a:ext cx="2729774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99482" y="2429470"/>
            <a:ext cx="23558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Music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72905" y="6860811"/>
            <a:ext cx="20153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Classification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3822">
            <a:off x="-4460604" y="-3701768"/>
            <a:ext cx="15465167" cy="8583168"/>
          </a:xfrm>
          <a:custGeom>
            <a:avLst/>
            <a:gdLst/>
            <a:ahLst/>
            <a:cxnLst/>
            <a:rect r="r" b="b" t="t" l="l"/>
            <a:pathLst>
              <a:path h="8583168" w="15465167">
                <a:moveTo>
                  <a:pt x="0" y="0"/>
                </a:moveTo>
                <a:lnTo>
                  <a:pt x="15465167" y="0"/>
                </a:lnTo>
                <a:lnTo>
                  <a:pt x="15465167" y="8583167"/>
                </a:lnTo>
                <a:lnTo>
                  <a:pt x="0" y="8583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8042428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7974358"/>
            <a:ext cx="723539" cy="702491"/>
          </a:xfrm>
          <a:custGeom>
            <a:avLst/>
            <a:gdLst/>
            <a:ahLst/>
            <a:cxnLst/>
            <a:rect r="r" b="b" t="t" l="l"/>
            <a:pathLst>
              <a:path h="702491" w="723539">
                <a:moveTo>
                  <a:pt x="0" y="0"/>
                </a:moveTo>
                <a:lnTo>
                  <a:pt x="723539" y="0"/>
                </a:lnTo>
                <a:lnTo>
                  <a:pt x="723539" y="702491"/>
                </a:lnTo>
                <a:lnTo>
                  <a:pt x="0" y="7024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41658" y="7820025"/>
            <a:ext cx="4961485" cy="95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Presentations are tools that can be used as lectures, speeches, reports, and more. It is mostly presented like.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54219" y="1629722"/>
            <a:ext cx="758733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Audio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32526" y="3060224"/>
            <a:ext cx="12155474" cy="653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preprocessing stage ensures clean, standardized input for accurate model learning.</a:t>
            </a:r>
          </a:p>
          <a:p>
            <a:pPr algn="l">
              <a:lnSpc>
                <a:spcPts val="5249"/>
              </a:lnSpc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Silence Removal: Removed silent sections using librosa.effects.trim to focus on active audio.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Resampling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Standardized all clips to 16kHz to match model input requirements.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Length Normalization: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Long clips were truncated; shorter ones were zero-padded.</a:t>
            </a:r>
          </a:p>
          <a:p>
            <a:pPr algn="l">
              <a:lnSpc>
                <a:spcPts val="5499"/>
              </a:lnSpc>
            </a:pPr>
            <a:r>
              <a:rPr lang="en-US" b="true" sz="21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Time-Frequency Feature Visualizations: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Waveform: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amplitude over time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STFT: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Frequency variation across time (spectrogram)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Mel Spectrogram: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Emphasizes perceptual frequency bands</a:t>
            </a:r>
          </a:p>
          <a:p>
            <a:pPr algn="l">
              <a:lnSpc>
                <a:spcPts val="524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Chroma Features: 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 harmonic and tonal patterns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1211827" y="4054640"/>
            <a:ext cx="8744516" cy="3258140"/>
            <a:chOff x="0" y="0"/>
            <a:chExt cx="11659355" cy="4344187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8"/>
            <a:srcRect l="0" t="321" r="0" b="321"/>
            <a:stretch>
              <a:fillRect/>
            </a:stretch>
          </p:blipFill>
          <p:spPr>
            <a:xfrm flipH="false" flipV="false">
              <a:off x="0" y="0"/>
              <a:ext cx="11659355" cy="4344187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396713"/>
            <a:ext cx="13765929" cy="4904112"/>
          </a:xfrm>
          <a:custGeom>
            <a:avLst/>
            <a:gdLst/>
            <a:ahLst/>
            <a:cxnLst/>
            <a:rect r="r" b="b" t="t" l="l"/>
            <a:pathLst>
              <a:path h="4904112" w="13765929">
                <a:moveTo>
                  <a:pt x="0" y="0"/>
                </a:moveTo>
                <a:lnTo>
                  <a:pt x="13765930" y="0"/>
                </a:lnTo>
                <a:lnTo>
                  <a:pt x="13765930" y="4904113"/>
                </a:lnTo>
                <a:lnTo>
                  <a:pt x="0" y="490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1035" y="5841571"/>
            <a:ext cx="13765929" cy="3923290"/>
          </a:xfrm>
          <a:custGeom>
            <a:avLst/>
            <a:gdLst/>
            <a:ahLst/>
            <a:cxnLst/>
            <a:rect r="r" b="b" t="t" l="l"/>
            <a:pathLst>
              <a:path h="3923290" w="13765929">
                <a:moveTo>
                  <a:pt x="0" y="0"/>
                </a:moveTo>
                <a:lnTo>
                  <a:pt x="13765930" y="0"/>
                </a:lnTo>
                <a:lnTo>
                  <a:pt x="13765930" y="3923289"/>
                </a:lnTo>
                <a:lnTo>
                  <a:pt x="0" y="3923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9361" y="299393"/>
            <a:ext cx="11851027" cy="4844107"/>
          </a:xfrm>
          <a:custGeom>
            <a:avLst/>
            <a:gdLst/>
            <a:ahLst/>
            <a:cxnLst/>
            <a:rect r="r" b="b" t="t" l="l"/>
            <a:pathLst>
              <a:path h="4844107" w="11851027">
                <a:moveTo>
                  <a:pt x="0" y="0"/>
                </a:moveTo>
                <a:lnTo>
                  <a:pt x="11851028" y="0"/>
                </a:lnTo>
                <a:lnTo>
                  <a:pt x="11851028" y="4844107"/>
                </a:lnTo>
                <a:lnTo>
                  <a:pt x="0" y="484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89361" y="5441101"/>
            <a:ext cx="11443009" cy="4704149"/>
          </a:xfrm>
          <a:custGeom>
            <a:avLst/>
            <a:gdLst/>
            <a:ahLst/>
            <a:cxnLst/>
            <a:rect r="r" b="b" t="t" l="l"/>
            <a:pathLst>
              <a:path h="4704149" w="11443009">
                <a:moveTo>
                  <a:pt x="0" y="0"/>
                </a:moveTo>
                <a:lnTo>
                  <a:pt x="11443009" y="0"/>
                </a:lnTo>
                <a:lnTo>
                  <a:pt x="11443009" y="4704149"/>
                </a:lnTo>
                <a:lnTo>
                  <a:pt x="0" y="4704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7" r="0" b="-62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0289858" y="2288857"/>
            <a:ext cx="10287000" cy="5709285"/>
          </a:xfrm>
          <a:custGeom>
            <a:avLst/>
            <a:gdLst/>
            <a:ahLst/>
            <a:cxnLst/>
            <a:rect r="r" b="b" t="t" l="l"/>
            <a:pathLst>
              <a:path h="5709285" w="10287000">
                <a:moveTo>
                  <a:pt x="10287000" y="5709286"/>
                </a:moveTo>
                <a:lnTo>
                  <a:pt x="0" y="570928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57092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8380" y="2087940"/>
            <a:ext cx="8439620" cy="5757836"/>
            <a:chOff x="0" y="0"/>
            <a:chExt cx="11252826" cy="767711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141" t="0" r="1141" b="0"/>
            <a:stretch>
              <a:fillRect/>
            </a:stretch>
          </p:blipFill>
          <p:spPr>
            <a:xfrm flipH="true" flipV="false">
              <a:off x="0" y="0"/>
              <a:ext cx="11252826" cy="7677114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13004933" y="1844526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7"/>
                </a:lnTo>
                <a:lnTo>
                  <a:pt x="0" y="486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3392" y="463327"/>
            <a:ext cx="10358552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7999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Feature Engineering (Keras Pipeline)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621" y="3012651"/>
            <a:ext cx="12172094" cy="559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6438"/>
              </a:lnSpc>
              <a:buFont typeface="Arial"/>
              <a:buChar char="•"/>
            </a:pPr>
            <a:r>
              <a:rPr lang="en-US" sz="29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Extracted statistical features (means, tempo, MFCCs, chroma) from each clip.</a:t>
            </a:r>
          </a:p>
          <a:p>
            <a:pPr algn="l" marL="626111" indent="-313055" lvl="1">
              <a:lnSpc>
                <a:spcPts val="6438"/>
              </a:lnSpc>
              <a:buFont typeface="Arial"/>
              <a:buChar char="•"/>
            </a:pPr>
            <a:r>
              <a:rPr lang="en-US" sz="29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Applied StandardScaler for normalization.</a:t>
            </a:r>
          </a:p>
          <a:p>
            <a:pPr algn="l" marL="626111" indent="-313055" lvl="1">
              <a:lnSpc>
                <a:spcPts val="6438"/>
              </a:lnSpc>
              <a:buFont typeface="Arial"/>
              <a:buChar char="•"/>
            </a:pPr>
            <a:r>
              <a:rPr lang="en-US" sz="29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Used PCA for dimensionality reduction and visualization.</a:t>
            </a:r>
          </a:p>
          <a:p>
            <a:pPr algn="l" marL="626111" indent="-313055" lvl="1">
              <a:lnSpc>
                <a:spcPts val="6438"/>
              </a:lnSpc>
              <a:buFont typeface="Arial"/>
              <a:buChar char="•"/>
            </a:pPr>
            <a:r>
              <a:rPr lang="en-US" sz="29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900">
                <a:solidFill>
                  <a:srgbClr val="1E2328"/>
                </a:solidFill>
                <a:latin typeface="Poppins"/>
                <a:ea typeface="Poppins"/>
                <a:cs typeface="Poppins"/>
                <a:sym typeface="Poppins"/>
              </a:rPr>
              <a:t>hanced interpretability through correlation heatmaps and genre-wise boxplots.</a:t>
            </a:r>
          </a:p>
          <a:p>
            <a:pPr algn="l">
              <a:lnSpc>
                <a:spcPts val="643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192993" y="9258300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8386" y="7259384"/>
            <a:ext cx="468807" cy="539634"/>
          </a:xfrm>
          <a:custGeom>
            <a:avLst/>
            <a:gdLst/>
            <a:ahLst/>
            <a:cxnLst/>
            <a:rect r="r" b="b" t="t" l="l"/>
            <a:pathLst>
              <a:path h="539634" w="468807">
                <a:moveTo>
                  <a:pt x="0" y="0"/>
                </a:moveTo>
                <a:lnTo>
                  <a:pt x="468808" y="0"/>
                </a:lnTo>
                <a:lnTo>
                  <a:pt x="468808" y="539634"/>
                </a:lnTo>
                <a:lnTo>
                  <a:pt x="0" y="539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8042428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7974358"/>
            <a:ext cx="723539" cy="702491"/>
          </a:xfrm>
          <a:custGeom>
            <a:avLst/>
            <a:gdLst/>
            <a:ahLst/>
            <a:cxnLst/>
            <a:rect r="r" b="b" t="t" l="l"/>
            <a:pathLst>
              <a:path h="702491" w="723539">
                <a:moveTo>
                  <a:pt x="0" y="0"/>
                </a:moveTo>
                <a:lnTo>
                  <a:pt x="723539" y="0"/>
                </a:lnTo>
                <a:lnTo>
                  <a:pt x="723539" y="702491"/>
                </a:lnTo>
                <a:lnTo>
                  <a:pt x="0" y="702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41658" y="7820025"/>
            <a:ext cx="4961485" cy="95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Presentations are tools that can be used as lectures, speeches, reports, and more. It is mostly presented like.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003822">
            <a:off x="-3801819" y="-1833253"/>
            <a:ext cx="16258123" cy="9023258"/>
          </a:xfrm>
          <a:custGeom>
            <a:avLst/>
            <a:gdLst/>
            <a:ahLst/>
            <a:cxnLst/>
            <a:rect r="r" b="b" t="t" l="l"/>
            <a:pathLst>
              <a:path h="9023258" w="16258123">
                <a:moveTo>
                  <a:pt x="0" y="0"/>
                </a:moveTo>
                <a:lnTo>
                  <a:pt x="16258123" y="0"/>
                </a:lnTo>
                <a:lnTo>
                  <a:pt x="16258123" y="9023258"/>
                </a:lnTo>
                <a:lnTo>
                  <a:pt x="0" y="9023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2334" y="1919752"/>
            <a:ext cx="16805666" cy="61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odel 1: Basic 3-layer MLP</a:t>
            </a:r>
            <a:r>
              <a:rPr lang="en-US" b="true" sz="3299">
                <a:solidFill>
                  <a:srgbClr val="1C191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299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(256-128-64 units)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2: Deeper MLP wi</a:t>
            </a:r>
            <a:r>
              <a:rPr lang="en-US" b="true" sz="3299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th Dropout layers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3: Same as </a:t>
            </a:r>
            <a:r>
              <a:rPr lang="en-US" b="true" sz="3299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2 with SGD optimizer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4: 5-</a:t>
            </a:r>
            <a:r>
              <a:rPr lang="en-US" b="true" sz="3299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la</a:t>
            </a:r>
            <a:r>
              <a:rPr lang="en-US" b="true" sz="3299" u="none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yer n</a:t>
            </a:r>
            <a:r>
              <a:rPr lang="en-US" b="true" sz="3299">
                <a:solidFill>
                  <a:srgbClr val="EE9C22"/>
                </a:solidFill>
                <a:latin typeface="Poppins Bold"/>
                <a:ea typeface="Poppins Bold"/>
                <a:cs typeface="Poppins Bold"/>
                <a:sym typeface="Poppins Bold"/>
              </a:rPr>
              <a:t>etwork with heavy dropout (achieved highest validation accuracy)</a:t>
            </a:r>
          </a:p>
          <a:p>
            <a:pPr algn="l">
              <a:lnSpc>
                <a:spcPts val="824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29726" y="422593"/>
            <a:ext cx="114130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Deep Learning   Models </a:t>
            </a:r>
            <a:r>
              <a:rPr lang="en-US" sz="7999" b="true">
                <a:solidFill>
                  <a:srgbClr val="EE9C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(Keras)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8042428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8334" y="2102002"/>
            <a:ext cx="16805666" cy="61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</a:t>
            </a: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 pretrained Facebook Wav2Vec2-base-960h model.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Input: raw waveforms processed with Hugging Face AutoFeatureExtractor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</a:t>
            </a: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e-tuned using Hugging Fac</a:t>
            </a:r>
            <a:r>
              <a:rPr lang="en-US" b="true" sz="3299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Train</a:t>
            </a: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API.</a:t>
            </a:r>
          </a:p>
          <a:p>
            <a:pPr algn="l" marL="712462" indent="-356231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done on balanced and resampled dataset (via RandomOverSampler).</a:t>
            </a:r>
          </a:p>
          <a:p>
            <a:pPr algn="l">
              <a:lnSpc>
                <a:spcPts val="82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29726" y="422593"/>
            <a:ext cx="114130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Transformer Model </a:t>
            </a:r>
            <a:r>
              <a:rPr lang="en-US" sz="7999" b="true">
                <a:solidFill>
                  <a:srgbClr val="EE9C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(Wav2Vec2)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953610" y="2729842"/>
            <a:ext cx="3212619" cy="3878274"/>
            <a:chOff x="0" y="0"/>
            <a:chExt cx="6350000" cy="7665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09880" y="-309880"/>
              <a:ext cx="6969760" cy="7975600"/>
            </a:xfrm>
            <a:custGeom>
              <a:avLst/>
              <a:gdLst/>
              <a:ahLst/>
              <a:cxnLst/>
              <a:rect r="r" b="b" t="t" l="l"/>
              <a:pathLst>
                <a:path h="7975600" w="696976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6063" y="380308"/>
              <a:ext cx="5895974" cy="5627483"/>
            </a:xfrm>
            <a:custGeom>
              <a:avLst/>
              <a:gdLst/>
              <a:ahLst/>
              <a:cxnLst/>
              <a:rect r="r" b="b" t="t" l="l"/>
              <a:pathLst>
                <a:path h="5627483" w="5895974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1621" t="0" r="-21621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566251" y="2729842"/>
            <a:ext cx="3212619" cy="3878274"/>
            <a:chOff x="0" y="0"/>
            <a:chExt cx="6350000" cy="7665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09880" y="-309880"/>
              <a:ext cx="6969760" cy="7975600"/>
            </a:xfrm>
            <a:custGeom>
              <a:avLst/>
              <a:gdLst/>
              <a:ahLst/>
              <a:cxnLst/>
              <a:rect r="r" b="b" t="t" l="l"/>
              <a:pathLst>
                <a:path h="7975600" w="696976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EE9C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6063" y="380308"/>
              <a:ext cx="5895974" cy="5627483"/>
            </a:xfrm>
            <a:custGeom>
              <a:avLst/>
              <a:gdLst/>
              <a:ahLst/>
              <a:cxnLst/>
              <a:rect r="r" b="b" t="t" l="l"/>
              <a:pathLst>
                <a:path h="5627483" w="5895974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121771" y="2729842"/>
            <a:ext cx="3212619" cy="3878274"/>
            <a:chOff x="0" y="0"/>
            <a:chExt cx="6350000" cy="7665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09880" y="-309880"/>
              <a:ext cx="6969760" cy="7975600"/>
            </a:xfrm>
            <a:custGeom>
              <a:avLst/>
              <a:gdLst/>
              <a:ahLst/>
              <a:cxnLst/>
              <a:rect r="r" b="b" t="t" l="l"/>
              <a:pathLst>
                <a:path h="7975600" w="6969760">
                  <a:moveTo>
                    <a:pt x="1239520" y="1239520"/>
                  </a:moveTo>
                  <a:cubicBezTo>
                    <a:pt x="0" y="2479040"/>
                    <a:pt x="0" y="4489450"/>
                    <a:pt x="1239520" y="5730240"/>
                  </a:cubicBezTo>
                  <a:lnTo>
                    <a:pt x="3484880" y="7975600"/>
                  </a:lnTo>
                  <a:lnTo>
                    <a:pt x="5730240" y="5730240"/>
                  </a:lnTo>
                  <a:cubicBezTo>
                    <a:pt x="6969760" y="4490720"/>
                    <a:pt x="6969760" y="2480310"/>
                    <a:pt x="5730240" y="1239520"/>
                  </a:cubicBezTo>
                  <a:cubicBezTo>
                    <a:pt x="4489450" y="0"/>
                    <a:pt x="2480310" y="0"/>
                    <a:pt x="1239520" y="12395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6063" y="380308"/>
              <a:ext cx="5895974" cy="5627483"/>
            </a:xfrm>
            <a:custGeom>
              <a:avLst/>
              <a:gdLst/>
              <a:ahLst/>
              <a:cxnLst/>
              <a:rect r="r" b="b" t="t" l="l"/>
              <a:pathLst>
                <a:path h="5627483" w="5895974">
                  <a:moveTo>
                    <a:pt x="2947987" y="4502"/>
                  </a:moveTo>
                  <a:cubicBezTo>
                    <a:pt x="1941349" y="0"/>
                    <a:pt x="1009246" y="534451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3"/>
                    <a:pt x="2947987" y="5622982"/>
                  </a:cubicBezTo>
                  <a:cubicBezTo>
                    <a:pt x="3954625" y="5627483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5"/>
              <a:stretch>
                <a:fillRect l="-20231" t="0" r="-2023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02920" y="868363"/>
            <a:ext cx="1108216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7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Evaluation – Keras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13580" y="7143609"/>
            <a:ext cx="2892679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000" b="true">
                <a:solidFill>
                  <a:srgbClr val="EE9C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Validation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21771" y="7143609"/>
            <a:ext cx="3212619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000" b="true">
                <a:solidFill>
                  <a:srgbClr val="EE9C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Macro F1 Score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28740" y="7143609"/>
            <a:ext cx="379303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000" b="true">
                <a:solidFill>
                  <a:srgbClr val="EE9C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Test Accuracy: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48675" y="7585502"/>
            <a:ext cx="2422490" cy="29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94.03%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16835" y="7585502"/>
            <a:ext cx="2422490" cy="29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93.47%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14011" y="7585502"/>
            <a:ext cx="2422490" cy="29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93.42%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3801" y="411461"/>
            <a:ext cx="11397155" cy="9758814"/>
          </a:xfrm>
          <a:custGeom>
            <a:avLst/>
            <a:gdLst/>
            <a:ahLst/>
            <a:cxnLst/>
            <a:rect r="r" b="b" t="t" l="l"/>
            <a:pathLst>
              <a:path h="9758814" w="11397155">
                <a:moveTo>
                  <a:pt x="0" y="0"/>
                </a:moveTo>
                <a:lnTo>
                  <a:pt x="11397155" y="0"/>
                </a:lnTo>
                <a:lnTo>
                  <a:pt x="11397155" y="9758813"/>
                </a:lnTo>
                <a:lnTo>
                  <a:pt x="0" y="9758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3670" y="868363"/>
            <a:ext cx="1264141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7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Evaluation – Transformer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442" y="2780700"/>
            <a:ext cx="14409076" cy="494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Accuracy: 64.5% (Top-1 prediction)</a:t>
            </a:r>
          </a:p>
          <a:p>
            <a:pPr algn="l">
              <a:lnSpc>
                <a:spcPts val="99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Macro ROC AUC Score: 0.93</a:t>
            </a:r>
          </a:p>
          <a:p>
            <a:pPr algn="l">
              <a:lnSpc>
                <a:spcPts val="99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Strength: High confidence in predictions across classes</a:t>
            </a:r>
          </a:p>
          <a:p>
            <a:pPr algn="l">
              <a:lnSpc>
                <a:spcPts val="99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Ideal for real-world probabilistic scoring systems.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91777" y="2215350"/>
          <a:ext cx="16303457" cy="7840987"/>
        </p:xfrm>
        <a:graphic>
          <a:graphicData uri="http://schemas.openxmlformats.org/drawingml/2006/table">
            <a:tbl>
              <a:tblPr/>
              <a:tblGrid>
                <a:gridCol w="6198575"/>
                <a:gridCol w="3825165"/>
                <a:gridCol w="6279717"/>
              </a:tblGrid>
              <a:tr h="1254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Metric/Aspect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Keras MLP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Wav2Vec2 Transformer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Input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Engineered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Raw Waveform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 (~93%)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Moderate (~65%)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Training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Interpretability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Easy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Real-world 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Lightweight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Resource-intensive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561027" y="226425"/>
            <a:ext cx="11165946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Comparative Analysis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69300" y="5552264"/>
            <a:ext cx="18626600" cy="10337763"/>
          </a:xfrm>
          <a:custGeom>
            <a:avLst/>
            <a:gdLst/>
            <a:ahLst/>
            <a:cxnLst/>
            <a:rect r="r" b="b" t="t" l="l"/>
            <a:pathLst>
              <a:path h="10337763" w="18626600">
                <a:moveTo>
                  <a:pt x="18626600" y="0"/>
                </a:moveTo>
                <a:lnTo>
                  <a:pt x="0" y="0"/>
                </a:lnTo>
                <a:lnTo>
                  <a:pt x="0" y="10337764"/>
                </a:lnTo>
                <a:lnTo>
                  <a:pt x="18626600" y="10337764"/>
                </a:lnTo>
                <a:lnTo>
                  <a:pt x="18626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1974" y="627029"/>
            <a:ext cx="544405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b="true" sz="7999" u="sng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1873" y="1602816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7" y="0"/>
                </a:lnTo>
                <a:lnTo>
                  <a:pt x="486827" y="486826"/>
                </a:lnTo>
                <a:lnTo>
                  <a:pt x="0" y="48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66307" y="8650364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6063" y="1836704"/>
            <a:ext cx="16881937" cy="677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BUILT COMPLETE PIPELINES USING BOTH STATISTICAL FEATURES AND RAW WAVEFORMS.</a:t>
            </a:r>
          </a:p>
          <a:p>
            <a:pPr algn="l">
              <a:lnSpc>
                <a:spcPts val="774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KERAS MODELS OUTPERFORMED ON ACCURACY, WHILE TRANSFORMERS EXCELLED IN LEARNING FROM RAW DATA.</a:t>
            </a:r>
          </a:p>
          <a:p>
            <a:pPr algn="l">
              <a:lnSpc>
                <a:spcPts val="774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HIGHLIGHTS THE EVOLUTION OF AUDIO AI AND BRIDGES CLASSICAL ML AND MODERN DL.</a:t>
            </a:r>
          </a:p>
          <a:p>
            <a:pPr algn="l">
              <a:lnSpc>
                <a:spcPts val="7749"/>
              </a:lnSpc>
            </a:pPr>
            <a:r>
              <a:rPr lang="en-US" b="true" sz="30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SETS THE STAGE FOR MORE ROBUST, SCALABLE MUSIC CLASSIFICATION SYSTEMS.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8D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10407"/>
            <a:ext cx="18288000" cy="6835140"/>
          </a:xfrm>
          <a:custGeom>
            <a:avLst/>
            <a:gdLst/>
            <a:ahLst/>
            <a:cxnLst/>
            <a:rect r="r" b="b" t="t" l="l"/>
            <a:pathLst>
              <a:path h="6835140" w="18288000">
                <a:moveTo>
                  <a:pt x="0" y="0"/>
                </a:moveTo>
                <a:lnTo>
                  <a:pt x="18288000" y="0"/>
                </a:lnTo>
                <a:lnTo>
                  <a:pt x="18288000" y="6835140"/>
                </a:lnTo>
                <a:lnTo>
                  <a:pt x="0" y="6835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5287" y="3359910"/>
            <a:ext cx="486827" cy="486827"/>
          </a:xfrm>
          <a:custGeom>
            <a:avLst/>
            <a:gdLst/>
            <a:ahLst/>
            <a:cxnLst/>
            <a:rect r="r" b="b" t="t" l="l"/>
            <a:pathLst>
              <a:path h="486827" w="486827">
                <a:moveTo>
                  <a:pt x="0" y="0"/>
                </a:moveTo>
                <a:lnTo>
                  <a:pt x="486826" y="0"/>
                </a:lnTo>
                <a:lnTo>
                  <a:pt x="486826" y="486827"/>
                </a:lnTo>
                <a:lnTo>
                  <a:pt x="0" y="486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66307" y="6867021"/>
            <a:ext cx="2221693" cy="1215872"/>
          </a:xfrm>
          <a:custGeom>
            <a:avLst/>
            <a:gdLst/>
            <a:ahLst/>
            <a:cxnLst/>
            <a:rect r="r" b="b" t="t" l="l"/>
            <a:pathLst>
              <a:path h="1215872" w="2221693">
                <a:moveTo>
                  <a:pt x="0" y="0"/>
                </a:moveTo>
                <a:lnTo>
                  <a:pt x="2221693" y="0"/>
                </a:lnTo>
                <a:lnTo>
                  <a:pt x="2221693" y="1215872"/>
                </a:lnTo>
                <a:lnTo>
                  <a:pt x="0" y="121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4665" y="6114612"/>
            <a:ext cx="13258670" cy="75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4999" spc="2334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your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63953" y="4059318"/>
            <a:ext cx="4230023" cy="214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74"/>
              </a:lnSpc>
            </a:pPr>
            <a:r>
              <a:rPr lang="en-US" b="true" sz="13978">
                <a:solidFill>
                  <a:srgbClr val="0B8D9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66502" y="4367944"/>
            <a:ext cx="3045044" cy="145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461"/>
              </a:lnSpc>
            </a:pPr>
            <a:r>
              <a:rPr lang="en-US" sz="9551">
                <a:solidFill>
                  <a:srgbClr val="EE9C22"/>
                </a:solidFill>
                <a:latin typeface="Breathing"/>
                <a:ea typeface="Breathing"/>
                <a:cs typeface="Breathing"/>
                <a:sym typeface="Breathing"/>
              </a:rPr>
              <a:t>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41704" y="767138"/>
            <a:ext cx="3401983" cy="539634"/>
            <a:chOff x="0" y="0"/>
            <a:chExt cx="4535977" cy="7195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910901" y="0"/>
              <a:ext cx="625076" cy="719512"/>
            </a:xfrm>
            <a:custGeom>
              <a:avLst/>
              <a:gdLst/>
              <a:ahLst/>
              <a:cxnLst/>
              <a:rect r="r" b="b" t="t" l="l"/>
              <a:pathLst>
                <a:path h="719512" w="625076">
                  <a:moveTo>
                    <a:pt x="0" y="0"/>
                  </a:moveTo>
                  <a:lnTo>
                    <a:pt x="625076" y="0"/>
                  </a:lnTo>
                  <a:lnTo>
                    <a:pt x="625076" y="719512"/>
                  </a:lnTo>
                  <a:lnTo>
                    <a:pt x="0" y="71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80991"/>
              <a:ext cx="368317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39"/>
                </a:lnSpc>
              </a:pPr>
              <a:r>
                <a:rPr lang="en-US" b="true" sz="2599">
                  <a:solidFill>
                    <a:srgbClr val="1E23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DAGkxWnU5TA</dc:identifier>
  <dcterms:modified xsi:type="dcterms:W3CDTF">2011-08-01T06:04:30Z</dcterms:modified>
  <cp:revision>1</cp:revision>
  <dc:title>Green Modern Tour &amp; Travel Agency Presentation</dc:title>
</cp:coreProperties>
</file>